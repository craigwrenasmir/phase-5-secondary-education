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5119604" cy="1069207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SESSION 4 · LEARNING DESIGN · TRIO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30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Our redesign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77724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Trio initials: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1064240" y="1078992"/>
            <a:ext cx="3506724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6" name="Rounded Rectangle 5"/>
          <p:cNvSpPr/>
          <p:nvPr/>
        </p:nvSpPr>
        <p:spPr>
          <a:xfrm>
            <a:off x="548640" y="1325880"/>
            <a:ext cx="6874002" cy="4271620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581912"/>
            <a:ext cx="502920" cy="502920"/>
          </a:xfrm>
          <a:prstGeom prst="ellipse">
            <a:avLst/>
          </a:prstGeom>
          <a:solidFill>
            <a:srgbClr val="5840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8191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6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527048"/>
            <a:ext cx="5685282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9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Our brief</a:t>
            </a:r>
          </a:p>
          <a:p>
            <a:pPr algn="l" marL="0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en-AU" sz="11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Stage 2 · agree on one lesson, task or handover you all recognise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4028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Our focus: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65960" y="2532888"/>
            <a:ext cx="513664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868680" y="2743200"/>
            <a:ext cx="623392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This asks students to…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8680" y="3310128"/>
            <a:ext cx="623392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868680" y="3547872"/>
            <a:ext cx="623392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For some students, that means…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8680" y="4114800"/>
            <a:ext cx="623392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868680" y="4352544"/>
            <a:ext cx="623392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We could change…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8680" y="4919472"/>
            <a:ext cx="623392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18" name="Rounded Rectangle 17"/>
          <p:cNvSpPr/>
          <p:nvPr/>
        </p:nvSpPr>
        <p:spPr>
          <a:xfrm>
            <a:off x="868680" y="5186020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5158588"/>
            <a:ext cx="586816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0">
                <a:solidFill>
                  <a:srgbClr val="2D2440"/>
                </a:solidFill>
                <a:latin typeface="Arial"/>
                <a:ea typeface="Arial"/>
                <a:cs typeface="Arial"/>
              </a:rPr>
              <a:t>Specific, workable, and free from blame or deficit labels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96962" y="1325880"/>
            <a:ext cx="6874002" cy="4271620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71282" y="1581912"/>
            <a:ext cx="502920" cy="502920"/>
          </a:xfrm>
          <a:prstGeom prst="ellipse">
            <a:avLst/>
          </a:prstGeom>
          <a:solidFill>
            <a:srgbClr val="5840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71282" y="158191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6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57082" y="1527048"/>
            <a:ext cx="5685282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9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Options we chose</a:t>
            </a:r>
          </a:p>
          <a:p>
            <a:pPr algn="l" marL="0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en-AU" sz="11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Stage 3 · choose one or two that answer your brief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7002" y="2395728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2762" y="2359152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Executive functioning meets assessment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7002" y="2779776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2762" y="274320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Predictability across the timetable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17002" y="3163824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82762" y="3127248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Supports that travel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17002" y="3547872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82762" y="3511296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Visual supports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17002" y="3931920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2762" y="3895344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Something else: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891522" y="4187952"/>
            <a:ext cx="435940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8017002" y="4343400"/>
            <a:ext cx="623392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Why it fits: which demand in our design does it answer?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017002" y="4983480"/>
            <a:ext cx="623392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cxnSp>
        <p:nvCxnSpPr>
          <p:cNvPr id="37" name="Connector 36"/>
          <p:cNvCxnSpPr/>
          <p:nvPr/>
        </p:nvCxnSpPr>
        <p:spPr>
          <a:xfrm>
            <a:off x="8017002" y="5312664"/>
            <a:ext cx="623392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cxnSp>
        <p:nvCxnSpPr>
          <p:cNvPr id="38" name="Connector 37"/>
          <p:cNvCxnSpPr/>
          <p:nvPr/>
        </p:nvCxnSpPr>
        <p:spPr>
          <a:xfrm>
            <a:off x="8017002" y="5641848"/>
            <a:ext cx="623392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39" name="Rounded Rectangle 38"/>
          <p:cNvSpPr/>
          <p:nvPr/>
        </p:nvSpPr>
        <p:spPr>
          <a:xfrm>
            <a:off x="548640" y="5871820"/>
            <a:ext cx="6874002" cy="4271620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22960" y="6127852"/>
            <a:ext cx="502920" cy="502920"/>
          </a:xfrm>
          <a:prstGeom prst="ellipse">
            <a:avLst/>
          </a:prstGeom>
          <a:solidFill>
            <a:srgbClr val="5840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612785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6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08760" y="6072988"/>
            <a:ext cx="5685282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9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Universal first</a:t>
            </a:r>
          </a:p>
          <a:p>
            <a:pPr algn="l" marL="0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en-AU" sz="11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Stage 4 · run these over your draft design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8680" y="6941668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34440" y="6905092"/>
            <a:ext cx="586816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Can students find and understand what they need?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8680" y="7344004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34440" y="7307428"/>
            <a:ext cx="586816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Can they take part in more than one way?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8680" y="7746340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34440" y="7709764"/>
            <a:ext cx="586816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Can they pause, ask for help or recover?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68680" y="8148676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34440" y="8112100"/>
            <a:ext cx="586816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Is the support available when demand increases?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68680" y="8551012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34440" y="8514436"/>
            <a:ext cx="586816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Is there more than one way to access, engage and respond?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" y="8953348"/>
            <a:ext cx="623392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What we adjusted: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68680" y="9593428"/>
            <a:ext cx="623392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cxnSp>
        <p:nvCxnSpPr>
          <p:cNvPr id="55" name="Connector 54"/>
          <p:cNvCxnSpPr/>
          <p:nvPr/>
        </p:nvCxnSpPr>
        <p:spPr>
          <a:xfrm>
            <a:off x="868680" y="9922612"/>
            <a:ext cx="623392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56" name="Rounded Rectangle 55"/>
          <p:cNvSpPr/>
          <p:nvPr/>
        </p:nvSpPr>
        <p:spPr>
          <a:xfrm>
            <a:off x="7696962" y="5871820"/>
            <a:ext cx="6874002" cy="4271620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971282" y="6127852"/>
            <a:ext cx="502920" cy="502920"/>
          </a:xfrm>
          <a:prstGeom prst="ellipse">
            <a:avLst/>
          </a:prstGeom>
          <a:solidFill>
            <a:srgbClr val="5840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71282" y="612785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6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57082" y="6072988"/>
            <a:ext cx="5685282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9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Our design</a:t>
            </a:r>
          </a:p>
          <a:p>
            <a:pPr algn="l" marL="0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en-AU" sz="11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Stage 5 · then ask the trio next to you to check it</a:t>
            </a:r>
          </a:p>
        </p:txBody>
      </p:sp>
      <p:sp>
        <p:nvSpPr>
          <p:cNvPr id="60" name="Oval 59"/>
          <p:cNvSpPr/>
          <p:nvPr/>
        </p:nvSpPr>
        <p:spPr>
          <a:xfrm>
            <a:off x="8017002" y="685022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17002" y="685022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28482" y="6822796"/>
            <a:ext cx="582244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The barrier or unnecessary demand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8428482" y="7289140"/>
            <a:ext cx="582244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64" name="Oval 63"/>
          <p:cNvSpPr/>
          <p:nvPr/>
        </p:nvSpPr>
        <p:spPr>
          <a:xfrm>
            <a:off x="8017002" y="741715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017002" y="741715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28482" y="7389724"/>
            <a:ext cx="582244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The change to the environment, task or routine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8428482" y="7856068"/>
            <a:ext cx="582244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68" name="Oval 67"/>
          <p:cNvSpPr/>
          <p:nvPr/>
        </p:nvSpPr>
        <p:spPr>
          <a:xfrm>
            <a:off x="8017002" y="798408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17002" y="798408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428482" y="7956652"/>
            <a:ext cx="582244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How students' communication and experience are included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8428482" y="8422996"/>
            <a:ext cx="582244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72" name="Oval 71"/>
          <p:cNvSpPr/>
          <p:nvPr/>
        </p:nvSpPr>
        <p:spPr>
          <a:xfrm>
            <a:off x="8017002" y="855101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017002" y="855101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28482" y="8523580"/>
            <a:ext cx="582244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What we will observe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8428482" y="8989924"/>
            <a:ext cx="582244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76" name="Oval 75"/>
          <p:cNvSpPr/>
          <p:nvPr/>
        </p:nvSpPr>
        <p:spPr>
          <a:xfrm>
            <a:off x="8017002" y="91179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017002" y="911794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28482" y="9090508"/>
            <a:ext cx="582244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When we will review it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8428482" y="9556852"/>
            <a:ext cx="582244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80" name="Rounded Rectangle 79"/>
          <p:cNvSpPr/>
          <p:nvPr/>
        </p:nvSpPr>
        <p:spPr>
          <a:xfrm>
            <a:off x="8017002" y="9731959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382762" y="9704527"/>
            <a:ext cx="586816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0">
                <a:solidFill>
                  <a:srgbClr val="2D2440"/>
                </a:solidFill>
                <a:latin typeface="Arial"/>
                <a:ea typeface="Arial"/>
                <a:cs typeface="Arial"/>
              </a:rPr>
              <a:t>Checked by another trio: still student-centred and environment-first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8640" y="10234879"/>
            <a:ext cx="14022324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5B5670"/>
                </a:solidFill>
                <a:latin typeface="Arial"/>
                <a:ea typeface="Arial"/>
                <a:cs typeface="Arial"/>
              </a:rPr>
              <a:t>Keep students first. Use initials or roles only: no student names or identifying details. This sheet goes on the wall in Stage 8.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4022324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MY STUDENTS CARDS · CUT ALONG THE DASHED LINES · ONE PER PERSON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0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My students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Private: keep this card to yourself. Stage 6.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691640"/>
            <a:ext cx="1691640" cy="411480"/>
          </a:xfrm>
          <a:prstGeom prst="roundRect">
            <a:avLst>
              <a:gd name="adj" fmla="val 3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0" y="1691640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Helps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691640"/>
            <a:ext cx="1691640" cy="411480"/>
          </a:xfrm>
          <a:prstGeom prst="roundRect">
            <a:avLst>
              <a:gd name="adj" fmla="val 3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86200" y="1691640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No difference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1691640"/>
            <a:ext cx="1691640" cy="411480"/>
          </a:xfrm>
          <a:prstGeom prst="roundRect">
            <a:avLst>
              <a:gd name="adj" fmla="val 30000"/>
            </a:avLst>
          </a:prstGeom>
          <a:solidFill>
            <a:srgbClr val="5840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1691640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Needs something more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12848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Student 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2167128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11880" y="2167128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94960" y="2167128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706624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Student 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2660904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11880" y="2660904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394960" y="2660904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20040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Student 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3154680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611880" y="3154680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394960" y="3154680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635240" y="914400"/>
            <a:ext cx="6935724" cy="2756306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9560" y="1097280"/>
            <a:ext cx="6387084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One thing I will try: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909560" y="1828800"/>
            <a:ext cx="6387084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7909560" y="2148840"/>
            <a:ext cx="6387084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7909560" y="2377440"/>
            <a:ext cx="6387084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Who I will involve: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909560" y="3063240"/>
            <a:ext cx="6387084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7909560" y="3259226"/>
            <a:ext cx="638708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Stage 8 · commit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28600" y="3853586"/>
            <a:ext cx="14662404" cy="0"/>
          </a:xfrm>
          <a:prstGeom prst="line">
            <a:avLst/>
          </a:prstGeom>
          <a:ln w="15875">
            <a:solidFill>
              <a:srgbClr val="B9A7D6"/>
            </a:solidFill>
            <a:prstDash val="dash"/>
          </a:ln>
        </p:spPr>
      </p:cxnSp>
      <p:sp>
        <p:nvSpPr>
          <p:cNvPr id="31" name="TextBox 30"/>
          <p:cNvSpPr txBox="1"/>
          <p:nvPr/>
        </p:nvSpPr>
        <p:spPr>
          <a:xfrm>
            <a:off x="548640" y="4036466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0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My students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493666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Private: keep this card to yourself. Stage 6.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28800" y="4859426"/>
            <a:ext cx="1691640" cy="411480"/>
          </a:xfrm>
          <a:prstGeom prst="roundRect">
            <a:avLst>
              <a:gd name="adj" fmla="val 3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03120" y="4859426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Helps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11880" y="4859426"/>
            <a:ext cx="1691640" cy="411480"/>
          </a:xfrm>
          <a:prstGeom prst="roundRect">
            <a:avLst>
              <a:gd name="adj" fmla="val 3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86200" y="4859426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No difference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94960" y="4859426"/>
            <a:ext cx="1691640" cy="411480"/>
          </a:xfrm>
          <a:prstGeom prst="roundRect">
            <a:avLst>
              <a:gd name="adj" fmla="val 30000"/>
            </a:avLst>
          </a:prstGeom>
          <a:solidFill>
            <a:srgbClr val="5840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0" y="4859426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Needs something more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380634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Student 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828800" y="5334914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611880" y="5334914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394960" y="5334914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87441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Student B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828800" y="5828690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611880" y="5828690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394960" y="5828690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6368186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Student C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828800" y="6322466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611880" y="6322466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394960" y="6322466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635240" y="4082186"/>
            <a:ext cx="6935724" cy="2756306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09560" y="4265066"/>
            <a:ext cx="6387084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One thing I will try: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909560" y="4996586"/>
            <a:ext cx="6387084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cxnSp>
        <p:nvCxnSpPr>
          <p:cNvPr id="54" name="Connector 53"/>
          <p:cNvCxnSpPr/>
          <p:nvPr/>
        </p:nvCxnSpPr>
        <p:spPr>
          <a:xfrm>
            <a:off x="7909560" y="5316626"/>
            <a:ext cx="6387084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55" name="TextBox 54"/>
          <p:cNvSpPr txBox="1"/>
          <p:nvPr/>
        </p:nvSpPr>
        <p:spPr>
          <a:xfrm>
            <a:off x="7909560" y="5545226"/>
            <a:ext cx="6387084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Who I will involve: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7909560" y="6231026"/>
            <a:ext cx="6387084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57" name="TextBox 56"/>
          <p:cNvSpPr txBox="1"/>
          <p:nvPr/>
        </p:nvSpPr>
        <p:spPr>
          <a:xfrm>
            <a:off x="7909560" y="6427013"/>
            <a:ext cx="638708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Stage 8 · commit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228600" y="7021373"/>
            <a:ext cx="14662404" cy="0"/>
          </a:xfrm>
          <a:prstGeom prst="line">
            <a:avLst/>
          </a:prstGeom>
          <a:ln w="15875">
            <a:solidFill>
              <a:srgbClr val="B9A7D6"/>
            </a:solidFill>
            <a:prstDash val="dash"/>
          </a:ln>
        </p:spPr>
      </p:cxnSp>
      <p:sp>
        <p:nvSpPr>
          <p:cNvPr id="59" name="TextBox 58"/>
          <p:cNvSpPr txBox="1"/>
          <p:nvPr/>
        </p:nvSpPr>
        <p:spPr>
          <a:xfrm>
            <a:off x="548640" y="7204253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0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My students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7661453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Private: keep this card to yourself. Stage 6.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828800" y="8027213"/>
            <a:ext cx="1691640" cy="411480"/>
          </a:xfrm>
          <a:prstGeom prst="roundRect">
            <a:avLst>
              <a:gd name="adj" fmla="val 3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03120" y="8027213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Helps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611880" y="8027213"/>
            <a:ext cx="1691640" cy="411480"/>
          </a:xfrm>
          <a:prstGeom prst="roundRect">
            <a:avLst>
              <a:gd name="adj" fmla="val 3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886200" y="8027213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No difference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394960" y="8027213"/>
            <a:ext cx="1691640" cy="411480"/>
          </a:xfrm>
          <a:prstGeom prst="roundRect">
            <a:avLst>
              <a:gd name="adj" fmla="val 30000"/>
            </a:avLst>
          </a:prstGeom>
          <a:solidFill>
            <a:srgbClr val="5840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669280" y="8027213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Needs something more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8640" y="8548421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Student A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828800" y="8502701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611880" y="8502701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5394960" y="8502701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48640" y="9042197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Student B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828800" y="8996477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3611880" y="8996477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5394960" y="8996477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8640" y="9535973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Student C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828800" y="9490253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611880" y="9490253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5394960" y="9490253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7635240" y="7249973"/>
            <a:ext cx="6935724" cy="2756306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909560" y="7432853"/>
            <a:ext cx="6387084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One thing I will try: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7909560" y="8164373"/>
            <a:ext cx="6387084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cxnSp>
        <p:nvCxnSpPr>
          <p:cNvPr id="82" name="Connector 81"/>
          <p:cNvCxnSpPr/>
          <p:nvPr/>
        </p:nvCxnSpPr>
        <p:spPr>
          <a:xfrm>
            <a:off x="7909560" y="8484413"/>
            <a:ext cx="6387084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83" name="TextBox 82"/>
          <p:cNvSpPr txBox="1"/>
          <p:nvPr/>
        </p:nvSpPr>
        <p:spPr>
          <a:xfrm>
            <a:off x="7909560" y="8713013"/>
            <a:ext cx="6387084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Who I will involve: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7909560" y="9398813"/>
            <a:ext cx="6387084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85" name="TextBox 84"/>
          <p:cNvSpPr txBox="1"/>
          <p:nvPr/>
        </p:nvSpPr>
        <p:spPr>
          <a:xfrm>
            <a:off x="7909560" y="9594799"/>
            <a:ext cx="638708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Stage 8 · commit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